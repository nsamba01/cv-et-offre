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119985" cy="1069200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04800"/>
            <a:ext cx="8890000" cy="406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02D49"/>
                </a:solidFill>
                <a:latin typeface="DejaVu Sans"/>
              </a:defRPr>
            </a:pPr>
            <a:r>
              <a:t>ORGANIGRAMME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749300"/>
            <a:ext cx="11430000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97080"/>
                </a:solidFill>
                <a:latin typeface="DejaVu Sans"/>
              </a:defRPr>
            </a:pPr>
            <a:r>
              <a:t>Structure institutionnelle • Rattachements hiérarchiques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556500" y="2171700"/>
            <a:ext cx="0" cy="1346200"/>
          </a:xfrm>
          <a:prstGeom prst="line">
            <a:avLst/>
          </a:prstGeom>
          <a:ln w="13970">
            <a:solidFill>
              <a:srgbClr val="80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937000" y="2755900"/>
            <a:ext cx="7239000" cy="0"/>
          </a:xfrm>
          <a:prstGeom prst="line">
            <a:avLst/>
          </a:prstGeom>
          <a:ln w="13970">
            <a:solidFill>
              <a:srgbClr val="80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222500" y="3517900"/>
            <a:ext cx="10668000" cy="0"/>
          </a:xfrm>
          <a:prstGeom prst="line">
            <a:avLst/>
          </a:prstGeom>
          <a:ln w="13970">
            <a:solidFill>
              <a:srgbClr val="80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222500" y="3517900"/>
            <a:ext cx="0" cy="215900"/>
          </a:xfrm>
          <a:prstGeom prst="line">
            <a:avLst/>
          </a:prstGeom>
          <a:ln w="13970">
            <a:solidFill>
              <a:srgbClr val="80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778500" y="3517900"/>
            <a:ext cx="0" cy="215900"/>
          </a:xfrm>
          <a:prstGeom prst="line">
            <a:avLst/>
          </a:prstGeom>
          <a:ln w="13970">
            <a:solidFill>
              <a:srgbClr val="80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334500" y="3517900"/>
            <a:ext cx="0" cy="215900"/>
          </a:xfrm>
          <a:prstGeom prst="line">
            <a:avLst/>
          </a:prstGeom>
          <a:ln w="13970">
            <a:solidFill>
              <a:srgbClr val="80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890500" y="3517900"/>
            <a:ext cx="0" cy="215900"/>
          </a:xfrm>
          <a:prstGeom prst="line">
            <a:avLst/>
          </a:prstGeom>
          <a:ln w="13970">
            <a:solidFill>
              <a:srgbClr val="80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222500" y="4470400"/>
            <a:ext cx="0" cy="228600"/>
          </a:xfrm>
          <a:prstGeom prst="line">
            <a:avLst/>
          </a:prstGeom>
          <a:ln w="13970">
            <a:solidFill>
              <a:srgbClr val="80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584200" y="4699000"/>
            <a:ext cx="1638300" cy="0"/>
          </a:xfrm>
          <a:prstGeom prst="line">
            <a:avLst/>
          </a:prstGeom>
          <a:ln w="13970">
            <a:solidFill>
              <a:srgbClr val="80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4200" y="4699000"/>
            <a:ext cx="0" cy="3136900"/>
          </a:xfrm>
          <a:prstGeom prst="line">
            <a:avLst/>
          </a:prstGeom>
          <a:ln w="13970">
            <a:solidFill>
              <a:srgbClr val="80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84200" y="4991100"/>
            <a:ext cx="177800" cy="0"/>
          </a:xfrm>
          <a:prstGeom prst="line">
            <a:avLst/>
          </a:prstGeom>
          <a:ln w="13970">
            <a:solidFill>
              <a:srgbClr val="80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84200" y="5702300"/>
            <a:ext cx="177800" cy="0"/>
          </a:xfrm>
          <a:prstGeom prst="line">
            <a:avLst/>
          </a:prstGeom>
          <a:ln w="13970">
            <a:solidFill>
              <a:srgbClr val="80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84200" y="6413500"/>
            <a:ext cx="177800" cy="0"/>
          </a:xfrm>
          <a:prstGeom prst="line">
            <a:avLst/>
          </a:prstGeom>
          <a:ln w="13970">
            <a:solidFill>
              <a:srgbClr val="80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84200" y="7124700"/>
            <a:ext cx="177800" cy="0"/>
          </a:xfrm>
          <a:prstGeom prst="line">
            <a:avLst/>
          </a:prstGeom>
          <a:ln w="13970">
            <a:solidFill>
              <a:srgbClr val="80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84200" y="7835900"/>
            <a:ext cx="177800" cy="0"/>
          </a:xfrm>
          <a:prstGeom prst="line">
            <a:avLst/>
          </a:prstGeom>
          <a:ln w="13970">
            <a:solidFill>
              <a:srgbClr val="80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778500" y="4470400"/>
            <a:ext cx="0" cy="228600"/>
          </a:xfrm>
          <a:prstGeom prst="line">
            <a:avLst/>
          </a:prstGeom>
          <a:ln w="13970">
            <a:solidFill>
              <a:srgbClr val="80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4140200" y="4699000"/>
            <a:ext cx="1638300" cy="0"/>
          </a:xfrm>
          <a:prstGeom prst="line">
            <a:avLst/>
          </a:prstGeom>
          <a:ln w="13970">
            <a:solidFill>
              <a:srgbClr val="80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40200" y="4699000"/>
            <a:ext cx="0" cy="3136900"/>
          </a:xfrm>
          <a:prstGeom prst="line">
            <a:avLst/>
          </a:prstGeom>
          <a:ln w="13970">
            <a:solidFill>
              <a:srgbClr val="80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140200" y="4991100"/>
            <a:ext cx="177800" cy="0"/>
          </a:xfrm>
          <a:prstGeom prst="line">
            <a:avLst/>
          </a:prstGeom>
          <a:ln w="13970">
            <a:solidFill>
              <a:srgbClr val="80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140200" y="5702300"/>
            <a:ext cx="177800" cy="0"/>
          </a:xfrm>
          <a:prstGeom prst="line">
            <a:avLst/>
          </a:prstGeom>
          <a:ln w="13970">
            <a:solidFill>
              <a:srgbClr val="80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140200" y="6413500"/>
            <a:ext cx="177800" cy="0"/>
          </a:xfrm>
          <a:prstGeom prst="line">
            <a:avLst/>
          </a:prstGeom>
          <a:ln w="13970">
            <a:solidFill>
              <a:srgbClr val="80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140200" y="7124700"/>
            <a:ext cx="177800" cy="0"/>
          </a:xfrm>
          <a:prstGeom prst="line">
            <a:avLst/>
          </a:prstGeom>
          <a:ln w="13970">
            <a:solidFill>
              <a:srgbClr val="80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140200" y="7835900"/>
            <a:ext cx="177800" cy="0"/>
          </a:xfrm>
          <a:prstGeom prst="line">
            <a:avLst/>
          </a:prstGeom>
          <a:ln w="13970">
            <a:solidFill>
              <a:srgbClr val="80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334500" y="4470400"/>
            <a:ext cx="0" cy="228600"/>
          </a:xfrm>
          <a:prstGeom prst="line">
            <a:avLst/>
          </a:prstGeom>
          <a:ln w="13970">
            <a:solidFill>
              <a:srgbClr val="80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7696200" y="4699000"/>
            <a:ext cx="1638300" cy="0"/>
          </a:xfrm>
          <a:prstGeom prst="line">
            <a:avLst/>
          </a:prstGeom>
          <a:ln w="13970">
            <a:solidFill>
              <a:srgbClr val="80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696200" y="4699000"/>
            <a:ext cx="0" cy="3848100"/>
          </a:xfrm>
          <a:prstGeom prst="line">
            <a:avLst/>
          </a:prstGeom>
          <a:ln w="13970">
            <a:solidFill>
              <a:srgbClr val="80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696200" y="4991100"/>
            <a:ext cx="177800" cy="0"/>
          </a:xfrm>
          <a:prstGeom prst="line">
            <a:avLst/>
          </a:prstGeom>
          <a:ln w="13970">
            <a:solidFill>
              <a:srgbClr val="80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696200" y="5702300"/>
            <a:ext cx="177800" cy="0"/>
          </a:xfrm>
          <a:prstGeom prst="line">
            <a:avLst/>
          </a:prstGeom>
          <a:ln w="13970">
            <a:solidFill>
              <a:srgbClr val="80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696200" y="6413500"/>
            <a:ext cx="177800" cy="0"/>
          </a:xfrm>
          <a:prstGeom prst="line">
            <a:avLst/>
          </a:prstGeom>
          <a:ln w="13970">
            <a:solidFill>
              <a:srgbClr val="80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696200" y="7124700"/>
            <a:ext cx="177800" cy="0"/>
          </a:xfrm>
          <a:prstGeom prst="line">
            <a:avLst/>
          </a:prstGeom>
          <a:ln w="13970">
            <a:solidFill>
              <a:srgbClr val="80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696200" y="7835900"/>
            <a:ext cx="177800" cy="0"/>
          </a:xfrm>
          <a:prstGeom prst="line">
            <a:avLst/>
          </a:prstGeom>
          <a:ln w="13970">
            <a:solidFill>
              <a:srgbClr val="80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696200" y="8547100"/>
            <a:ext cx="177800" cy="0"/>
          </a:xfrm>
          <a:prstGeom prst="line">
            <a:avLst/>
          </a:prstGeom>
          <a:ln w="13970">
            <a:solidFill>
              <a:srgbClr val="80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2890500" y="4470400"/>
            <a:ext cx="0" cy="228600"/>
          </a:xfrm>
          <a:prstGeom prst="line">
            <a:avLst/>
          </a:prstGeom>
          <a:ln w="13970">
            <a:solidFill>
              <a:srgbClr val="80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11252200" y="4699000"/>
            <a:ext cx="1638300" cy="0"/>
          </a:xfrm>
          <a:prstGeom prst="line">
            <a:avLst/>
          </a:prstGeom>
          <a:ln w="13970">
            <a:solidFill>
              <a:srgbClr val="80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1252200" y="4699000"/>
            <a:ext cx="0" cy="1714500"/>
          </a:xfrm>
          <a:prstGeom prst="line">
            <a:avLst/>
          </a:prstGeom>
          <a:ln w="13970">
            <a:solidFill>
              <a:srgbClr val="80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1252200" y="4991100"/>
            <a:ext cx="177800" cy="0"/>
          </a:xfrm>
          <a:prstGeom prst="line">
            <a:avLst/>
          </a:prstGeom>
          <a:ln w="13970">
            <a:solidFill>
              <a:srgbClr val="80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1252200" y="5702300"/>
            <a:ext cx="177800" cy="0"/>
          </a:xfrm>
          <a:prstGeom prst="line">
            <a:avLst/>
          </a:prstGeom>
          <a:ln w="13970">
            <a:solidFill>
              <a:srgbClr val="80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1252200" y="6413500"/>
            <a:ext cx="177800" cy="0"/>
          </a:xfrm>
          <a:prstGeom prst="line">
            <a:avLst/>
          </a:prstGeom>
          <a:ln w="13970">
            <a:solidFill>
              <a:srgbClr val="80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DG"/>
          <p:cNvSpPr/>
          <p:nvPr/>
        </p:nvSpPr>
        <p:spPr>
          <a:xfrm>
            <a:off x="5321300" y="1257300"/>
            <a:ext cx="4470400" cy="914400"/>
          </a:xfrm>
          <a:prstGeom prst="roundRect">
            <a:avLst>
              <a:gd name="adj" fmla="val 8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48300" y="1257300"/>
            <a:ext cx="4216400" cy="914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364D"/>
                </a:solidFill>
                <a:latin typeface="DejaVu Sans"/>
              </a:defRPr>
            </a:pPr>
          </a:p>
        </p:txBody>
      </p:sp>
      <p:pic>
        <p:nvPicPr>
          <p:cNvPr id="44" name="Picture 43" descr="portrai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8300" y="1371600"/>
            <a:ext cx="698500" cy="6731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324600" y="1371600"/>
            <a:ext cx="32258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DejaVu Sans"/>
              </a:defRPr>
            </a:pPr>
            <a:r>
              <a:t>Directeur Executif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24600" y="1727200"/>
            <a:ext cx="3225800" cy="292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47" name="IT"/>
          <p:cNvSpPr/>
          <p:nvPr/>
        </p:nvSpPr>
        <p:spPr>
          <a:xfrm>
            <a:off x="1841500" y="2476500"/>
            <a:ext cx="3937000" cy="558800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968500" y="2476500"/>
            <a:ext cx="3683000" cy="558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364D"/>
                </a:solidFill>
                <a:latin typeface="DejaVu Sans"/>
              </a:defRPr>
            </a:pPr>
            <a:r>
              <a:t>IT</a:t>
            </a:r>
          </a:p>
        </p:txBody>
      </p:sp>
      <p:sp>
        <p:nvSpPr>
          <p:cNvPr id="49" name="SEC"/>
          <p:cNvSpPr/>
          <p:nvPr/>
        </p:nvSpPr>
        <p:spPr>
          <a:xfrm>
            <a:off x="9334500" y="2476500"/>
            <a:ext cx="3937000" cy="558800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61500" y="2476500"/>
            <a:ext cx="3683000" cy="558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364D"/>
                </a:solidFill>
                <a:latin typeface="DejaVu Sans"/>
              </a:defRPr>
            </a:pPr>
            <a:r>
              <a:t>Secretariat de Direction</a:t>
            </a:r>
          </a:p>
        </p:txBody>
      </p:sp>
      <p:sp>
        <p:nvSpPr>
          <p:cNvPr id="51" name="D1"/>
          <p:cNvSpPr/>
          <p:nvPr/>
        </p:nvSpPr>
        <p:spPr>
          <a:xfrm>
            <a:off x="533400" y="3733800"/>
            <a:ext cx="3378200" cy="736600"/>
          </a:xfrm>
          <a:prstGeom prst="roundRect">
            <a:avLst>
              <a:gd name="adj" fmla="val 8000"/>
            </a:avLst>
          </a:prstGeom>
          <a:solidFill>
            <a:srgbClr val="256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0400" y="3733800"/>
            <a:ext cx="3124200" cy="736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Direction Programme et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Planification</a:t>
            </a:r>
          </a:p>
        </p:txBody>
      </p:sp>
      <p:sp>
        <p:nvSpPr>
          <p:cNvPr id="53" name="D1-U1"/>
          <p:cNvSpPr/>
          <p:nvPr/>
        </p:nvSpPr>
        <p:spPr>
          <a:xfrm>
            <a:off x="762000" y="4711700"/>
            <a:ext cx="3149600" cy="558800"/>
          </a:xfrm>
          <a:prstGeom prst="roundRect">
            <a:avLst>
              <a:gd name="adj" fmla="val 8000"/>
            </a:avLst>
          </a:prstGeom>
          <a:solidFill>
            <a:srgbClr val="ED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9000" y="4711700"/>
            <a:ext cx="2895600" cy="558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7364D"/>
                </a:solidFill>
                <a:latin typeface="DejaVu Sans"/>
              </a:defRPr>
            </a:pPr>
            <a:r>
              <a:t>Santé Communautaire</a:t>
            </a:r>
          </a:p>
        </p:txBody>
      </p:sp>
      <p:sp>
        <p:nvSpPr>
          <p:cNvPr id="55" name="D1-U2"/>
          <p:cNvSpPr/>
          <p:nvPr/>
        </p:nvSpPr>
        <p:spPr>
          <a:xfrm>
            <a:off x="762000" y="5422900"/>
            <a:ext cx="3149600" cy="558800"/>
          </a:xfrm>
          <a:prstGeom prst="roundRect">
            <a:avLst>
              <a:gd name="adj" fmla="val 8000"/>
            </a:avLst>
          </a:prstGeom>
          <a:solidFill>
            <a:srgbClr val="ED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89000" y="5422900"/>
            <a:ext cx="2895600" cy="558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7364D"/>
                </a:solidFill>
                <a:latin typeface="DejaVu Sans"/>
              </a:defRPr>
            </a:pPr>
            <a:r>
              <a:t>SRMNEA/Nutrition &amp;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7364D"/>
                </a:solidFill>
                <a:latin typeface="DejaVu Sans"/>
              </a:defRPr>
            </a:pPr>
            <a:r>
              <a:t>Maladies infectieuses</a:t>
            </a:r>
          </a:p>
        </p:txBody>
      </p:sp>
      <p:sp>
        <p:nvSpPr>
          <p:cNvPr id="57" name="D1-U3"/>
          <p:cNvSpPr/>
          <p:nvPr/>
        </p:nvSpPr>
        <p:spPr>
          <a:xfrm>
            <a:off x="762000" y="6134100"/>
            <a:ext cx="3149600" cy="558800"/>
          </a:xfrm>
          <a:prstGeom prst="roundRect">
            <a:avLst>
              <a:gd name="adj" fmla="val 8000"/>
            </a:avLst>
          </a:prstGeom>
          <a:solidFill>
            <a:srgbClr val="ED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89000" y="6134100"/>
            <a:ext cx="2895600" cy="558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7364D"/>
                </a:solidFill>
                <a:latin typeface="DejaVu Sans"/>
              </a:defRPr>
            </a:pPr>
            <a:r>
              <a:t>MNT</a:t>
            </a:r>
          </a:p>
        </p:txBody>
      </p:sp>
      <p:sp>
        <p:nvSpPr>
          <p:cNvPr id="59" name="D1-U4"/>
          <p:cNvSpPr/>
          <p:nvPr/>
        </p:nvSpPr>
        <p:spPr>
          <a:xfrm>
            <a:off x="762000" y="6845300"/>
            <a:ext cx="3149600" cy="558800"/>
          </a:xfrm>
          <a:prstGeom prst="roundRect">
            <a:avLst>
              <a:gd name="adj" fmla="val 8000"/>
            </a:avLst>
          </a:prstGeom>
          <a:solidFill>
            <a:srgbClr val="ED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89000" y="6845300"/>
            <a:ext cx="2895600" cy="558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7364D"/>
                </a:solidFill>
                <a:latin typeface="DejaVu Sans"/>
              </a:defRPr>
            </a:pPr>
            <a:r>
              <a:t>Santé Climat et environnement</a:t>
            </a:r>
          </a:p>
        </p:txBody>
      </p:sp>
      <p:sp>
        <p:nvSpPr>
          <p:cNvPr id="61" name="D1-U5"/>
          <p:cNvSpPr/>
          <p:nvPr/>
        </p:nvSpPr>
        <p:spPr>
          <a:xfrm>
            <a:off x="762000" y="7556500"/>
            <a:ext cx="3149600" cy="558800"/>
          </a:xfrm>
          <a:prstGeom prst="roundRect">
            <a:avLst>
              <a:gd name="adj" fmla="val 8000"/>
            </a:avLst>
          </a:prstGeom>
          <a:solidFill>
            <a:srgbClr val="ED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89000" y="7556500"/>
            <a:ext cx="2895600" cy="558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7364D"/>
                </a:solidFill>
                <a:latin typeface="DejaVu Sans"/>
              </a:defRPr>
            </a:pPr>
            <a:r>
              <a:t>Economie de la santé</a:t>
            </a:r>
          </a:p>
        </p:txBody>
      </p:sp>
      <p:sp>
        <p:nvSpPr>
          <p:cNvPr id="63" name="D2"/>
          <p:cNvSpPr/>
          <p:nvPr/>
        </p:nvSpPr>
        <p:spPr>
          <a:xfrm>
            <a:off x="4089400" y="3733800"/>
            <a:ext cx="3378200" cy="736600"/>
          </a:xfrm>
          <a:prstGeom prst="roundRect">
            <a:avLst>
              <a:gd name="adj" fmla="val 8000"/>
            </a:avLst>
          </a:prstGeom>
          <a:solidFill>
            <a:srgbClr val="256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16400" y="3733800"/>
            <a:ext cx="3124200" cy="736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Direction SERA</a:t>
            </a:r>
          </a:p>
        </p:txBody>
      </p:sp>
      <p:sp>
        <p:nvSpPr>
          <p:cNvPr id="65" name="D2-U1"/>
          <p:cNvSpPr/>
          <p:nvPr/>
        </p:nvSpPr>
        <p:spPr>
          <a:xfrm>
            <a:off x="4318000" y="4711700"/>
            <a:ext cx="3149600" cy="558800"/>
          </a:xfrm>
          <a:prstGeom prst="roundRect">
            <a:avLst>
              <a:gd name="adj" fmla="val 8000"/>
            </a:avLst>
          </a:prstGeom>
          <a:solidFill>
            <a:srgbClr val="ED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445000" y="4711700"/>
            <a:ext cx="2895600" cy="558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7364D"/>
                </a:solidFill>
                <a:latin typeface="DejaVu Sans"/>
              </a:defRPr>
            </a:pPr>
            <a:r>
              <a:t>Evaluations &amp; Recherche</a:t>
            </a:r>
          </a:p>
        </p:txBody>
      </p:sp>
      <p:sp>
        <p:nvSpPr>
          <p:cNvPr id="67" name="D2-U2"/>
          <p:cNvSpPr/>
          <p:nvPr/>
        </p:nvSpPr>
        <p:spPr>
          <a:xfrm>
            <a:off x="4318000" y="5422900"/>
            <a:ext cx="3149600" cy="558800"/>
          </a:xfrm>
          <a:prstGeom prst="roundRect">
            <a:avLst>
              <a:gd name="adj" fmla="val 8000"/>
            </a:avLst>
          </a:prstGeom>
          <a:solidFill>
            <a:srgbClr val="ED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445000" y="5422900"/>
            <a:ext cx="2895600" cy="558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7364D"/>
                </a:solidFill>
                <a:latin typeface="DejaVu Sans"/>
              </a:defRPr>
            </a:pPr>
            <a:r>
              <a:t>Monitorage</a:t>
            </a:r>
          </a:p>
        </p:txBody>
      </p:sp>
      <p:sp>
        <p:nvSpPr>
          <p:cNvPr id="69" name="D2-U3"/>
          <p:cNvSpPr/>
          <p:nvPr/>
        </p:nvSpPr>
        <p:spPr>
          <a:xfrm>
            <a:off x="4318000" y="6134100"/>
            <a:ext cx="3149600" cy="558800"/>
          </a:xfrm>
          <a:prstGeom prst="roundRect">
            <a:avLst>
              <a:gd name="adj" fmla="val 8000"/>
            </a:avLst>
          </a:prstGeom>
          <a:solidFill>
            <a:srgbClr val="ED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445000" y="6134100"/>
            <a:ext cx="2895600" cy="558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7364D"/>
                </a:solidFill>
                <a:latin typeface="DejaVu Sans"/>
              </a:defRPr>
            </a:pPr>
            <a:r>
              <a:t>Gestion &amp; Analyse des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7364D"/>
                </a:solidFill>
                <a:latin typeface="DejaVu Sans"/>
              </a:defRPr>
            </a:pPr>
            <a:r>
              <a:t>données</a:t>
            </a:r>
          </a:p>
        </p:txBody>
      </p:sp>
      <p:sp>
        <p:nvSpPr>
          <p:cNvPr id="71" name="D2-U4"/>
          <p:cNvSpPr/>
          <p:nvPr/>
        </p:nvSpPr>
        <p:spPr>
          <a:xfrm>
            <a:off x="4318000" y="6845300"/>
            <a:ext cx="3149600" cy="558800"/>
          </a:xfrm>
          <a:prstGeom prst="roundRect">
            <a:avLst>
              <a:gd name="adj" fmla="val 8000"/>
            </a:avLst>
          </a:prstGeom>
          <a:solidFill>
            <a:srgbClr val="ED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445000" y="6845300"/>
            <a:ext cx="2895600" cy="558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7364D"/>
                </a:solidFill>
                <a:latin typeface="DejaVu Sans"/>
              </a:defRPr>
            </a:pPr>
            <a:r>
              <a:t>Publications</a:t>
            </a:r>
          </a:p>
        </p:txBody>
      </p:sp>
      <p:sp>
        <p:nvSpPr>
          <p:cNvPr id="73" name="D2-U5"/>
          <p:cNvSpPr/>
          <p:nvPr/>
        </p:nvSpPr>
        <p:spPr>
          <a:xfrm>
            <a:off x="4318000" y="7556500"/>
            <a:ext cx="3149600" cy="558800"/>
          </a:xfrm>
          <a:prstGeom prst="roundRect">
            <a:avLst>
              <a:gd name="adj" fmla="val 8000"/>
            </a:avLst>
          </a:prstGeom>
          <a:solidFill>
            <a:srgbClr val="ED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445000" y="7556500"/>
            <a:ext cx="2895600" cy="558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7364D"/>
                </a:solidFill>
                <a:latin typeface="DejaVu Sans"/>
              </a:defRPr>
            </a:pPr>
            <a:r>
              <a:t>Renforcement des Capacités</a:t>
            </a:r>
          </a:p>
        </p:txBody>
      </p:sp>
      <p:sp>
        <p:nvSpPr>
          <p:cNvPr id="75" name="D3"/>
          <p:cNvSpPr/>
          <p:nvPr/>
        </p:nvSpPr>
        <p:spPr>
          <a:xfrm>
            <a:off x="7645400" y="3733800"/>
            <a:ext cx="3378200" cy="736600"/>
          </a:xfrm>
          <a:prstGeom prst="roundRect">
            <a:avLst>
              <a:gd name="adj" fmla="val 8000"/>
            </a:avLst>
          </a:prstGeom>
          <a:solidFill>
            <a:srgbClr val="256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772400" y="3733800"/>
            <a:ext cx="3124200" cy="736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Direction Administration et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Finance</a:t>
            </a:r>
          </a:p>
        </p:txBody>
      </p:sp>
      <p:sp>
        <p:nvSpPr>
          <p:cNvPr id="77" name="D3-U1"/>
          <p:cNvSpPr/>
          <p:nvPr/>
        </p:nvSpPr>
        <p:spPr>
          <a:xfrm>
            <a:off x="7874000" y="4711700"/>
            <a:ext cx="3149600" cy="558800"/>
          </a:xfrm>
          <a:prstGeom prst="roundRect">
            <a:avLst>
              <a:gd name="adj" fmla="val 8000"/>
            </a:avLst>
          </a:prstGeom>
          <a:solidFill>
            <a:srgbClr val="ED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001000" y="4711700"/>
            <a:ext cx="2895600" cy="558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7364D"/>
                </a:solidFill>
                <a:latin typeface="DejaVu Sans"/>
              </a:defRPr>
            </a:pPr>
            <a:r>
              <a:t>Finance</a:t>
            </a:r>
          </a:p>
        </p:txBody>
      </p:sp>
      <p:sp>
        <p:nvSpPr>
          <p:cNvPr id="79" name="D3-U2"/>
          <p:cNvSpPr/>
          <p:nvPr/>
        </p:nvSpPr>
        <p:spPr>
          <a:xfrm>
            <a:off x="7874000" y="5422900"/>
            <a:ext cx="3149600" cy="558800"/>
          </a:xfrm>
          <a:prstGeom prst="roundRect">
            <a:avLst>
              <a:gd name="adj" fmla="val 8000"/>
            </a:avLst>
          </a:prstGeom>
          <a:solidFill>
            <a:srgbClr val="ED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001000" y="5422900"/>
            <a:ext cx="2895600" cy="558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7364D"/>
                </a:solidFill>
                <a:latin typeface="DejaVu Sans"/>
              </a:defRPr>
            </a:pPr>
            <a:r>
              <a:t>Comptabilité</a:t>
            </a:r>
          </a:p>
        </p:txBody>
      </p:sp>
      <p:sp>
        <p:nvSpPr>
          <p:cNvPr id="81" name="D3-U3"/>
          <p:cNvSpPr/>
          <p:nvPr/>
        </p:nvSpPr>
        <p:spPr>
          <a:xfrm>
            <a:off x="7874000" y="6134100"/>
            <a:ext cx="3149600" cy="558800"/>
          </a:xfrm>
          <a:prstGeom prst="roundRect">
            <a:avLst>
              <a:gd name="adj" fmla="val 8000"/>
            </a:avLst>
          </a:prstGeom>
          <a:solidFill>
            <a:srgbClr val="ED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001000" y="6134100"/>
            <a:ext cx="2895600" cy="558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7364D"/>
                </a:solidFill>
                <a:latin typeface="DejaVu Sans"/>
              </a:defRPr>
            </a:pPr>
            <a:r>
              <a:t>Trésorerie</a:t>
            </a:r>
          </a:p>
        </p:txBody>
      </p:sp>
      <p:sp>
        <p:nvSpPr>
          <p:cNvPr id="83" name="D3-U4"/>
          <p:cNvSpPr/>
          <p:nvPr/>
        </p:nvSpPr>
        <p:spPr>
          <a:xfrm>
            <a:off x="7874000" y="6845300"/>
            <a:ext cx="3149600" cy="558800"/>
          </a:xfrm>
          <a:prstGeom prst="roundRect">
            <a:avLst>
              <a:gd name="adj" fmla="val 8000"/>
            </a:avLst>
          </a:prstGeom>
          <a:solidFill>
            <a:srgbClr val="ED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001000" y="6845300"/>
            <a:ext cx="2895600" cy="558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7364D"/>
                </a:solidFill>
                <a:latin typeface="DejaVu Sans"/>
              </a:defRPr>
            </a:pPr>
            <a:r>
              <a:t>Ressources Humaines</a:t>
            </a:r>
          </a:p>
        </p:txBody>
      </p:sp>
      <p:sp>
        <p:nvSpPr>
          <p:cNvPr id="85" name="D3-U5"/>
          <p:cNvSpPr/>
          <p:nvPr/>
        </p:nvSpPr>
        <p:spPr>
          <a:xfrm>
            <a:off x="7874000" y="7556500"/>
            <a:ext cx="3149600" cy="558800"/>
          </a:xfrm>
          <a:prstGeom prst="roundRect">
            <a:avLst>
              <a:gd name="adj" fmla="val 8000"/>
            </a:avLst>
          </a:prstGeom>
          <a:solidFill>
            <a:srgbClr val="ED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001000" y="7556500"/>
            <a:ext cx="2895600" cy="558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7364D"/>
                </a:solidFill>
                <a:latin typeface="DejaVu Sans"/>
              </a:defRPr>
            </a:pPr>
            <a:r>
              <a:t>Achat /Logistique</a:t>
            </a:r>
          </a:p>
        </p:txBody>
      </p:sp>
      <p:sp>
        <p:nvSpPr>
          <p:cNvPr id="87" name="D3-U6"/>
          <p:cNvSpPr/>
          <p:nvPr/>
        </p:nvSpPr>
        <p:spPr>
          <a:xfrm>
            <a:off x="7874000" y="8267700"/>
            <a:ext cx="3149600" cy="558800"/>
          </a:xfrm>
          <a:prstGeom prst="roundRect">
            <a:avLst>
              <a:gd name="adj" fmla="val 8000"/>
            </a:avLst>
          </a:prstGeom>
          <a:solidFill>
            <a:srgbClr val="ED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001000" y="8267700"/>
            <a:ext cx="2895600" cy="558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7364D"/>
                </a:solidFill>
                <a:latin typeface="DejaVu Sans"/>
              </a:defRPr>
            </a:pPr>
            <a:r>
              <a:t>Chauffeur</a:t>
            </a:r>
          </a:p>
        </p:txBody>
      </p:sp>
      <p:sp>
        <p:nvSpPr>
          <p:cNvPr id="89" name="D4"/>
          <p:cNvSpPr/>
          <p:nvPr/>
        </p:nvSpPr>
        <p:spPr>
          <a:xfrm>
            <a:off x="11201400" y="3733800"/>
            <a:ext cx="3378200" cy="736600"/>
          </a:xfrm>
          <a:prstGeom prst="roundRect">
            <a:avLst>
              <a:gd name="adj" fmla="val 8000"/>
            </a:avLst>
          </a:prstGeom>
          <a:solidFill>
            <a:srgbClr val="256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1328400" y="3733800"/>
            <a:ext cx="3124200" cy="736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Direction Relations Extérieures</a:t>
            </a:r>
          </a:p>
        </p:txBody>
      </p:sp>
      <p:sp>
        <p:nvSpPr>
          <p:cNvPr id="91" name="D4-U1"/>
          <p:cNvSpPr/>
          <p:nvPr/>
        </p:nvSpPr>
        <p:spPr>
          <a:xfrm>
            <a:off x="11430000" y="4711700"/>
            <a:ext cx="3149600" cy="558800"/>
          </a:xfrm>
          <a:prstGeom prst="roundRect">
            <a:avLst>
              <a:gd name="adj" fmla="val 8000"/>
            </a:avLst>
          </a:prstGeom>
          <a:solidFill>
            <a:srgbClr val="ED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1557000" y="4711700"/>
            <a:ext cx="2895600" cy="558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7364D"/>
                </a:solidFill>
                <a:latin typeface="DejaVu Sans"/>
              </a:defRPr>
            </a:pPr>
            <a:r>
              <a:t>Partenariats</a:t>
            </a:r>
          </a:p>
        </p:txBody>
      </p:sp>
      <p:sp>
        <p:nvSpPr>
          <p:cNvPr id="93" name="D4-U2"/>
          <p:cNvSpPr/>
          <p:nvPr/>
        </p:nvSpPr>
        <p:spPr>
          <a:xfrm>
            <a:off x="11430000" y="5422900"/>
            <a:ext cx="3149600" cy="558800"/>
          </a:xfrm>
          <a:prstGeom prst="roundRect">
            <a:avLst>
              <a:gd name="adj" fmla="val 8000"/>
            </a:avLst>
          </a:prstGeom>
          <a:solidFill>
            <a:srgbClr val="ED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557000" y="5422900"/>
            <a:ext cx="2895600" cy="558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7364D"/>
                </a:solidFill>
                <a:latin typeface="DejaVu Sans"/>
              </a:defRPr>
            </a:pPr>
            <a:r>
              <a:t>Mob ressources</a:t>
            </a:r>
          </a:p>
        </p:txBody>
      </p:sp>
      <p:sp>
        <p:nvSpPr>
          <p:cNvPr id="95" name="D4-U3"/>
          <p:cNvSpPr/>
          <p:nvPr/>
        </p:nvSpPr>
        <p:spPr>
          <a:xfrm>
            <a:off x="11430000" y="6134100"/>
            <a:ext cx="3149600" cy="558800"/>
          </a:xfrm>
          <a:prstGeom prst="roundRect">
            <a:avLst>
              <a:gd name="adj" fmla="val 8000"/>
            </a:avLst>
          </a:prstGeom>
          <a:solidFill>
            <a:srgbClr val="ED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1557000" y="6134100"/>
            <a:ext cx="2895600" cy="558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7364D"/>
                </a:solidFill>
                <a:latin typeface="DejaVu Sans"/>
              </a:defRPr>
            </a:pPr>
            <a:r>
              <a:t>Communication &amp; Marketing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533400" y="9563100"/>
            <a:ext cx="14046200" cy="0"/>
          </a:xfrm>
          <a:prstGeom prst="line">
            <a:avLst/>
          </a:prstGeom>
          <a:ln w="13970">
            <a:solidFill>
              <a:srgbClr val="809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533400" y="9677400"/>
            <a:ext cx="13970000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97080"/>
                </a:solidFill>
                <a:latin typeface="DejaVu Sans"/>
              </a:defRPr>
            </a:pPr>
            <a:r>
              <a:t>Trait plein : rattachement hiérarchique  •  Les entités de chaque colonne relèvent directement de leur direction.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33400" y="10020300"/>
            <a:ext cx="13970000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597080"/>
                </a:solidFill>
                <a:latin typeface="DejaVu Sans"/>
              </a:defRPr>
            </a:pPr>
            <a:r>
              <a:t>Source : Organigramme vf.pdf, p. 1  |  Lecture des rattachements confirmée par le demandeur  |  30 octobre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